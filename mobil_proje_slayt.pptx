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700BC-6D86-EDAE-F19C-E44594A3DF89}" v="58" dt="2025-12-20T00:44:10.597"/>
    <p1510:client id="{F2DA05B2-D047-03A2-B276-2ED876C9C62A}" v="27" dt="2025-12-20T00:46:30.702"/>
    <p1510:client id="{F8032B5F-A77C-5977-DEBD-DD6917352B14}" v="210" dt="2025-12-20T01:37:56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Resim 6" descr="mobil telefon, taslak, tasarım, çizi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2318AD0-8B80-68A5-9DAC-6E25A3C30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8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335905" y="743447"/>
            <a:ext cx="4589708" cy="3042087"/>
          </a:xfrm>
          <a:noFill/>
        </p:spPr>
        <p:txBody>
          <a:bodyPr>
            <a:normAutofit/>
          </a:bodyPr>
          <a:lstStyle/>
          <a:p>
            <a:pPr algn="l"/>
            <a:r>
              <a:rPr lang="tr-TR" sz="5200" b="1">
                <a:latin typeface="Times New Roman"/>
                <a:cs typeface="Times New Roman"/>
              </a:rPr>
              <a:t>Formül Bul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335906" y="4629234"/>
            <a:ext cx="4589709" cy="148531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tr-TR" sz="2000" b="1" dirty="0"/>
              <a:t>Hazırlayan:</a:t>
            </a:r>
            <a:r>
              <a:rPr lang="tr-TR" sz="2000" dirty="0"/>
              <a:t> Efe Onar</a:t>
            </a:r>
          </a:p>
          <a:p>
            <a:pPr algn="l"/>
            <a:r>
              <a:rPr lang="tr-TR" sz="2000" b="1" dirty="0"/>
              <a:t>Ders Kodu:</a:t>
            </a:r>
            <a:r>
              <a:rPr lang="tr-TR" sz="2000" dirty="0"/>
              <a:t> MBP 211</a:t>
            </a:r>
          </a:p>
          <a:p>
            <a:pPr algn="l"/>
            <a:r>
              <a:rPr lang="tr-TR" sz="2000" b="1" dirty="0"/>
              <a:t>Öğretim Görevlisi:</a:t>
            </a:r>
            <a:r>
              <a:rPr lang="tr-TR" sz="2000" dirty="0"/>
              <a:t> Hüseyin Tokat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9CF7C2-BC10-DE26-50EA-A33FFDBF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latin typeface="Times New Roman"/>
                <a:cs typeface="Times New Roman"/>
              </a:rPr>
              <a:t>Projenin Amacı         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1D1833-0E24-BC46-1B11-CF5E242A5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tr-TR" dirty="0">
                <a:latin typeface="Times New Roman"/>
                <a:ea typeface="+mn-lt"/>
                <a:cs typeface="+mn-lt"/>
              </a:rPr>
              <a:t>Geleneksel not tutma yöntemlerinin yarattığı karmaşayı ortadan kaldırarak, formüllere anında erişim sağlayan, aynı zamanda </a:t>
            </a:r>
            <a:r>
              <a:rPr lang="tr-TR" err="1">
                <a:latin typeface="Times New Roman"/>
                <a:ea typeface="+mn-lt"/>
                <a:cs typeface="+mn-lt"/>
              </a:rPr>
              <a:t>Pomodoro</a:t>
            </a:r>
            <a:r>
              <a:rPr lang="tr-TR" dirty="0">
                <a:latin typeface="Times New Roman"/>
                <a:ea typeface="+mn-lt"/>
                <a:cs typeface="+mn-lt"/>
              </a:rPr>
              <a:t> gibi tekniklerle odaklanmayı artıran bütünleşik bir mobil eğitim asistanı oluşturmak</a:t>
            </a:r>
            <a:endParaRPr lang="tr-TR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0099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67984B-7325-F310-05BE-1E084AA6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latin typeface="Times New Roman"/>
                <a:ea typeface="+mj-lt"/>
                <a:cs typeface="+mj-lt"/>
              </a:rPr>
              <a:t>Projenin Özellikleri</a:t>
            </a:r>
            <a:endParaRPr lang="tr-TR" b="1">
              <a:latin typeface="Times New Roman"/>
              <a:cs typeface="Times New Roman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DD56A8-143B-DB54-3FA2-512C0D554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Dinamik Ders Modülleri: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Matematik, Fizik ve Kimya derslerine ait formül ve konu özetlerine anında erişim.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Bulut tabanlı (Cloud) yapı sayesinde içeriklerin uygulama güncellenmeden uzaktan yenilenebilmesi.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690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061701-66D0-348F-9441-460871D1C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 Kişiselleştirilmiş Favori Sistemi:</a:t>
            </a:r>
            <a:endParaRPr lang="tr-TR" dirty="0">
              <a:ea typeface="+mn-lt"/>
              <a:cs typeface="+mn-lt"/>
            </a:endParaRPr>
          </a:p>
          <a:p>
            <a:r>
              <a:rPr lang="tr-TR" dirty="0">
                <a:ea typeface="+mn-lt"/>
                <a:cs typeface="+mn-lt"/>
              </a:rPr>
              <a:t>Öğrencilerin sık kullandığı veya zorlandığı formülleri "Favorilerim" listesine ekleyerek kendi çalışma alanlarını oluşturabilmesi.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b="1" dirty="0" err="1">
                <a:ea typeface="+mn-lt"/>
                <a:cs typeface="+mn-lt"/>
              </a:rPr>
              <a:t>Pomodoro</a:t>
            </a:r>
            <a:r>
              <a:rPr lang="tr-TR" b="1" dirty="0">
                <a:ea typeface="+mn-lt"/>
                <a:cs typeface="+mn-lt"/>
              </a:rPr>
              <a:t> Sayacı: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Uygulama dışına çıkmadan, odaklanmayı artıran 25 dk çalışma + 5 dk mola döngüsünü yöneten zamanlayıcı modülü.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178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0DA887-65D4-76F1-0240-810D5F25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latin typeface="Times New Roman"/>
                <a:ea typeface="+mj-lt"/>
                <a:cs typeface="+mj-lt"/>
              </a:rPr>
              <a:t>Kullanılan Teknolojiler</a:t>
            </a:r>
            <a:endParaRPr lang="tr-TR" b="1">
              <a:latin typeface="Times New Roman"/>
              <a:cs typeface="Times New Roman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A47D60-84CE-D234-9FFA-AAD111C95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 Geliştirme Ortamı</a:t>
            </a:r>
            <a:endParaRPr lang="tr-TR" dirty="0"/>
          </a:p>
          <a:p>
            <a:r>
              <a:rPr lang="tr-TR" b="1" dirty="0" err="1">
                <a:ea typeface="+mn-lt"/>
                <a:cs typeface="+mn-lt"/>
              </a:rPr>
              <a:t>React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Native</a:t>
            </a:r>
            <a:r>
              <a:rPr lang="tr-TR" b="1" dirty="0">
                <a:ea typeface="+mn-lt"/>
                <a:cs typeface="+mn-lt"/>
              </a:rPr>
              <a:t> &amp; Expo:</a:t>
            </a:r>
            <a:r>
              <a:rPr lang="tr-TR" dirty="0">
                <a:ea typeface="+mn-lt"/>
                <a:cs typeface="+mn-lt"/>
              </a:rPr>
              <a:t> Hem Android hem iOS uyumlu (Cross-Platform) hibrit mobil uygulama geliştirme altyapısı.</a:t>
            </a:r>
            <a:endParaRPr lang="tr-TR" dirty="0"/>
          </a:p>
          <a:p>
            <a:endParaRPr lang="tr-TR" dirty="0"/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Programlama Dili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b="1" dirty="0" err="1">
                <a:ea typeface="+mn-lt"/>
                <a:cs typeface="+mn-lt"/>
              </a:rPr>
              <a:t>TypeScript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Standart JavaScript yerine, tip güvenliği sağlayan ve hataları minimuma indiren </a:t>
            </a:r>
            <a:r>
              <a:rPr lang="tr-TR" dirty="0" err="1">
                <a:ea typeface="+mn-lt"/>
                <a:cs typeface="+mn-lt"/>
              </a:rPr>
              <a:t>TypeScript</a:t>
            </a:r>
            <a:r>
              <a:rPr lang="tr-TR" dirty="0">
                <a:ea typeface="+mn-lt"/>
                <a:cs typeface="+mn-lt"/>
              </a:rPr>
              <a:t> kullanıldı.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4946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6F61B2-F585-3440-F7ED-096FD33C2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Veritabanı</a:t>
            </a:r>
            <a:r>
              <a:rPr lang="tr-TR" b="1" dirty="0">
                <a:ea typeface="+mn-lt"/>
                <a:cs typeface="+mn-lt"/>
              </a:rPr>
              <a:t>:</a:t>
            </a:r>
            <a:endParaRPr lang="tr-TR" dirty="0"/>
          </a:p>
          <a:p>
            <a:r>
              <a:rPr lang="tr-TR" b="1" dirty="0" err="1">
                <a:ea typeface="+mn-lt"/>
                <a:cs typeface="+mn-lt"/>
              </a:rPr>
              <a:t>Convex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Gerçek zamanlı (Real-time) veri akışı sağlayan, sunucusuz (</a:t>
            </a:r>
            <a:r>
              <a:rPr lang="tr-TR" dirty="0" err="1">
                <a:ea typeface="+mn-lt"/>
                <a:cs typeface="+mn-lt"/>
              </a:rPr>
              <a:t>Serverless</a:t>
            </a:r>
            <a:r>
              <a:rPr lang="tr-TR" dirty="0">
                <a:ea typeface="+mn-lt"/>
                <a:cs typeface="+mn-lt"/>
              </a:rPr>
              <a:t>) modern </a:t>
            </a:r>
            <a:r>
              <a:rPr lang="tr-TR" dirty="0" err="1">
                <a:ea typeface="+mn-lt"/>
                <a:cs typeface="+mn-lt"/>
              </a:rPr>
              <a:t>veritabanı</a:t>
            </a:r>
            <a:r>
              <a:rPr lang="tr-TR" dirty="0">
                <a:ea typeface="+mn-lt"/>
                <a:cs typeface="+mn-lt"/>
              </a:rPr>
              <a:t> mimarisi.</a:t>
            </a:r>
            <a:endParaRPr lang="tr-TR" dirty="0"/>
          </a:p>
          <a:p>
            <a:endParaRPr lang="tr-TR" dirty="0"/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Arayüz ve Tasarım:</a:t>
            </a:r>
            <a:endParaRPr lang="tr-TR" dirty="0">
              <a:ea typeface="+mn-lt"/>
              <a:cs typeface="+mn-lt"/>
            </a:endParaRPr>
          </a:p>
          <a:p>
            <a:pPr marL="285750" indent="-285750">
              <a:buFont typeface="Arial"/>
            </a:pPr>
            <a:r>
              <a:rPr lang="tr-TR" b="1" dirty="0" err="1">
                <a:ea typeface="+mn-lt"/>
                <a:cs typeface="+mn-lt"/>
              </a:rPr>
              <a:t>React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Native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Safe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Area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Context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Farklı ekran boyutlarına (çentikli ekranlar) tam uyum sağlamak için.</a:t>
            </a:r>
          </a:p>
          <a:p>
            <a:pPr marL="285750" indent="-285750">
              <a:buFont typeface="Arial"/>
            </a:pPr>
            <a:r>
              <a:rPr lang="tr-TR" b="1" dirty="0">
                <a:ea typeface="+mn-lt"/>
                <a:cs typeface="+mn-lt"/>
              </a:rPr>
              <a:t>Expo </a:t>
            </a:r>
            <a:r>
              <a:rPr lang="tr-TR" b="1" dirty="0" err="1">
                <a:ea typeface="+mn-lt"/>
                <a:cs typeface="+mn-lt"/>
              </a:rPr>
              <a:t>Vector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Icons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Modern ve anlaşılır ikon setleri.</a:t>
            </a:r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9170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91D851-2648-B3EC-C331-B7D30AE63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51776" cy="1347974"/>
          </a:xfrm>
        </p:spPr>
        <p:txBody>
          <a:bodyPr/>
          <a:lstStyle/>
          <a:p>
            <a:r>
              <a:rPr lang="tr-TR" b="1" dirty="0">
                <a:latin typeface="Times New Roman"/>
                <a:ea typeface="+mj-lt"/>
                <a:cs typeface="+mj-lt"/>
              </a:rPr>
              <a:t>Yapay Zeka Çağında Neden Bu Uygulama?</a:t>
            </a:r>
            <a:endParaRPr lang="tr-TR" b="1">
              <a:latin typeface="Times New Roman"/>
              <a:cs typeface="Times New Roman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A985FF1-1A37-B875-649F-3E9096260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Doğruluk ve Güvenilirlik </a:t>
            </a: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Sorun:</a:t>
            </a:r>
            <a:r>
              <a:rPr lang="tr-TR" dirty="0">
                <a:ea typeface="+mn-lt"/>
                <a:cs typeface="+mn-lt"/>
              </a:rPr>
              <a:t> Yapay zeka modelleri (LLM), bazen çok emin bir dille yanlış formüller uydurabilir ("Halüsinasyon" sorunu).</a:t>
            </a:r>
            <a:endParaRPr lang="tr-TR"/>
          </a:p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Çözüm: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i="1" dirty="0">
                <a:ea typeface="+mn-lt"/>
                <a:cs typeface="+mn-lt"/>
              </a:rPr>
              <a:t>Ders Asistanım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dirty="0" err="1">
                <a:ea typeface="+mn-lt"/>
                <a:cs typeface="+mn-lt"/>
              </a:rPr>
              <a:t>veritabanına</a:t>
            </a:r>
            <a:r>
              <a:rPr lang="tr-TR" dirty="0">
                <a:ea typeface="+mn-lt"/>
                <a:cs typeface="+mn-lt"/>
              </a:rPr>
              <a:t> uzmanlar tarafından eklenmiş, </a:t>
            </a:r>
            <a:r>
              <a:rPr lang="tr-TR" b="1" dirty="0">
                <a:ea typeface="+mn-lt"/>
                <a:cs typeface="+mn-lt"/>
              </a:rPr>
              <a:t>%100 doğrulanmış ve sabit</a:t>
            </a:r>
            <a:r>
              <a:rPr lang="tr-TR" dirty="0">
                <a:ea typeface="+mn-lt"/>
                <a:cs typeface="+mn-lt"/>
              </a:rPr>
              <a:t> formüller sunar. Sınava hazırlanan bir öğrenci riske giremez.</a:t>
            </a:r>
            <a:endParaRPr lang="tr-TR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5286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C18CCA-1F26-03D8-E550-CCA66D044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449"/>
            <a:ext cx="10515600" cy="61442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Pedagojik Yaklaşım</a:t>
            </a:r>
            <a:endParaRPr lang="tr-TR" dirty="0"/>
          </a:p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Sorun:</a:t>
            </a:r>
            <a:r>
              <a:rPr lang="tr-TR" dirty="0">
                <a:ea typeface="+mn-lt"/>
                <a:cs typeface="+mn-lt"/>
              </a:rPr>
              <a:t> Yapay zeka soruyu direkt çözüp cevabı verir. Bu, öğrencinin tembelleşmesine ve öğrenme sürecinin aksamasına neden olur.</a:t>
            </a:r>
            <a:endParaRPr lang="tr-TR" dirty="0"/>
          </a:p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Çözüm:</a:t>
            </a:r>
            <a:r>
              <a:rPr lang="tr-TR" dirty="0">
                <a:ea typeface="+mn-lt"/>
                <a:cs typeface="+mn-lt"/>
              </a:rPr>
              <a:t> Bizim uygulamamız soruyu çözmez, öğrenciye </a:t>
            </a:r>
            <a:r>
              <a:rPr lang="tr-TR" b="1" dirty="0">
                <a:ea typeface="+mn-lt"/>
                <a:cs typeface="+mn-lt"/>
              </a:rPr>
              <a:t>yolu gösterir</a:t>
            </a:r>
            <a:r>
              <a:rPr lang="tr-TR" dirty="0">
                <a:ea typeface="+mn-lt"/>
                <a:cs typeface="+mn-lt"/>
              </a:rPr>
              <a:t>. Formülü verir ama işlemi öğrencinin yapmasını sağlar. Bu da </a:t>
            </a:r>
            <a:r>
              <a:rPr lang="tr-TR" b="1" dirty="0">
                <a:ea typeface="+mn-lt"/>
                <a:cs typeface="+mn-lt"/>
              </a:rPr>
              <a:t>kalıcı öğrenmeyi</a:t>
            </a:r>
            <a:r>
              <a:rPr lang="tr-TR" dirty="0">
                <a:ea typeface="+mn-lt"/>
                <a:cs typeface="+mn-lt"/>
              </a:rPr>
              <a:t> destekler.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/>
              <a:t>Odak ve Zaman Yönetimi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Sorun:</a:t>
            </a:r>
            <a:r>
              <a:rPr lang="tr-TR" dirty="0"/>
              <a:t> Bir öğrenci yapay zekaya girdiği an, başka konulara sapma, sohbet etme veya sosyal medyaya kayma ihtimali yüksektir.</a:t>
            </a:r>
          </a:p>
          <a:p>
            <a:pPr marL="0" indent="0">
              <a:buNone/>
            </a:pPr>
            <a:r>
              <a:rPr lang="tr-TR" b="1" dirty="0"/>
              <a:t>Çözüm:</a:t>
            </a:r>
            <a:r>
              <a:rPr lang="tr-TR" dirty="0"/>
              <a:t> Uygulamamız "Ders Modu" gibidir. Sadece derse odaklıdır, dikkat dağıtıcı unsurlar yoktur ve aranan bilgiye </a:t>
            </a:r>
            <a:r>
              <a:rPr lang="tr-TR" b="1" dirty="0" err="1"/>
              <a:t>prompt</a:t>
            </a:r>
            <a:r>
              <a:rPr lang="tr-TR" b="1" dirty="0"/>
              <a:t> yazmadan</a:t>
            </a:r>
            <a:r>
              <a:rPr lang="tr-TR" dirty="0"/>
              <a:t> 2 saniyede ulaşılır.</a:t>
            </a:r>
          </a:p>
          <a:p>
            <a:pPr marL="285750" indent="-285750">
              <a:buFont typeface="Arial,Sans-Serif"/>
              <a:buChar char="•"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8510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27E115B-BF09-3024-D3F3-0C6CC02DD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8508"/>
            <a:ext cx="10515600" cy="57184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Müfredata Tam Uyum</a:t>
            </a:r>
            <a:endParaRPr lang="tr-TR" dirty="0"/>
          </a:p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Sorun:</a:t>
            </a:r>
            <a:r>
              <a:rPr lang="tr-TR" dirty="0">
                <a:ea typeface="+mn-lt"/>
                <a:cs typeface="+mn-lt"/>
              </a:rPr>
              <a:t> Global yapay zekalar genel geçer bilgiler verir, okul müfredatıyla uyuşmayabilir (</a:t>
            </a:r>
            <a:r>
              <a:rPr lang="tr-TR" dirty="0" err="1">
                <a:ea typeface="+mn-lt"/>
                <a:cs typeface="+mn-lt"/>
              </a:rPr>
              <a:t>Örn</a:t>
            </a:r>
            <a:r>
              <a:rPr lang="tr-TR" dirty="0">
                <a:ea typeface="+mn-lt"/>
                <a:cs typeface="+mn-lt"/>
              </a:rPr>
              <a:t>: Farklı birim sistemleri).</a:t>
            </a:r>
            <a:endParaRPr lang="tr-TR" dirty="0"/>
          </a:p>
          <a:p>
            <a:pPr marL="0" indent="0">
              <a:buNone/>
            </a:pPr>
            <a:r>
              <a:rPr lang="tr-TR" b="1" dirty="0">
                <a:ea typeface="+mn-lt"/>
                <a:cs typeface="+mn-lt"/>
              </a:rPr>
              <a:t>Çözüm:</a:t>
            </a:r>
            <a:r>
              <a:rPr lang="tr-TR" dirty="0">
                <a:ea typeface="+mn-lt"/>
                <a:cs typeface="+mn-lt"/>
              </a:rPr>
              <a:t> Bu uygulama, </a:t>
            </a:r>
            <a:r>
              <a:rPr lang="tr-TR" b="1" dirty="0">
                <a:ea typeface="+mn-lt"/>
                <a:cs typeface="+mn-lt"/>
              </a:rPr>
              <a:t>okul müfredatına</a:t>
            </a:r>
            <a:r>
              <a:rPr lang="tr-TR" dirty="0">
                <a:ea typeface="+mn-lt"/>
                <a:cs typeface="+mn-lt"/>
              </a:rPr>
              <a:t> ve sınav sistemine göre filtrelenmiş, tam olarak öğrencinin sorumlu olduğu içeriği sunar.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63685507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Ofis Teması</vt:lpstr>
      <vt:lpstr>Formül Bul</vt:lpstr>
      <vt:lpstr>Projenin Amacı          </vt:lpstr>
      <vt:lpstr>Projenin Özellikleri</vt:lpstr>
      <vt:lpstr>PowerPoint Sunusu</vt:lpstr>
      <vt:lpstr>Kullanılan Teknolojiler</vt:lpstr>
      <vt:lpstr>PowerPoint Sunusu</vt:lpstr>
      <vt:lpstr>Yapay Zeka Çağında Neden Bu Uygulama?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133</cp:revision>
  <dcterms:created xsi:type="dcterms:W3CDTF">2025-12-20T00:41:35Z</dcterms:created>
  <dcterms:modified xsi:type="dcterms:W3CDTF">2025-12-20T01:39:28Z</dcterms:modified>
</cp:coreProperties>
</file>